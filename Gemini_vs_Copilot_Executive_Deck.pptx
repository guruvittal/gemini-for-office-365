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BG"/>
          <p:cNvSpPr/>
          <p:nvPr/>
        </p:nvSpPr>
        <p:spPr>
          <a:xfrm>
            <a:off x="1000000" y="1500000"/>
            <a:ext cx="10192000" cy="3858000"/>
          </a:xfrm>
          <a:prstGeom prst="roundRect">
            <a:avLst>
              <a:gd name="adj" fmla="val 2500"/>
            </a:avLst>
          </a:prstGeom>
          <a:solidFill>
            <a:srgbClr val="F0F4F9"/>
          </a:solidFill>
          <a:ln w="25400">
            <a:solidFill>
              <a:srgbClr val="D2E3FC"/>
            </a:solidFill>
          </a:ln>
        </p:spPr>
      </p:sp>
      <p:sp>
        <p:nvSpPr>
          <p:cNvPr id="3" name="Title"/>
          <p:cNvSpPr/>
          <p:nvPr/>
        </p:nvSpPr>
        <p:spPr>
          <a:xfrm>
            <a:off x="1400000" y="2000000"/>
            <a:ext cx="9392000" cy="1600000"/>
          </a:xfrm>
          <a:prstGeom prst="rect">
            <a:avLst/>
          </a:prstGeom>
          <a:noFill/>
        </p:spPr>
        <p:txBody>
          <a:bodyPr anchor="ctr" lIns="0" tIns="0" rIns="0" bIns="0"/>
          <a:p>
            <a:pPr algn="ctr"/>
            <a:r>
              <a:rPr sz="3800" b="1" dirty="0">
                <a:solidFill>
                  <a:srgbClr val="1A73E8"/>
                </a:solidFill>
                <a:latin typeface="Google Sans"/>
              </a:rPr>
              <a:t>Gemini for Microsoft Office 365 vs. Microsoft Copilot</a:t>
            </a:r>
          </a:p>
          <a:p>
            <a:pPr algn="ctr"/>
            <a:r>
              <a:rPr sz="2200" dirty="0">
                <a:solidFill>
                  <a:srgbClr val="5F6368"/>
                </a:solidFill>
                <a:latin typeface="Google Sans"/>
              </a:rPr>
              <a:t>Executive Architecture, Grounding, &amp; Feature Capability Matrix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800000" y="600000"/>
            <a:ext cx="10592000" cy="50000"/>
          </a:xfrm>
          <a:prstGeom prst="rect">
            <a:avLst/>
          </a:prstGeom>
          <a:solidFill>
            <a:srgbClr val="1A73E8"/>
          </a:solidFill>
        </p:spPr>
      </p:sp>
      <p:sp>
        <p:nvSpPr>
          <p:cNvPr id="3" name="SlideHeader"/>
          <p:cNvSpPr/>
          <p:nvPr/>
        </p:nvSpPr>
        <p:spPr>
          <a:xfrm>
            <a:off x="800000" y="800000"/>
            <a:ext cx="10592000" cy="700000"/>
          </a:xfrm>
          <a:prstGeom prst="rect">
            <a:avLst/>
          </a:prstGeom>
          <a:noFill/>
        </p:spPr>
        <p:txBody>
          <a:bodyPr lIns="0" tIns="0" rIns="0" bIns="0"/>
          <a:p>
            <a:r>
              <a:rPr sz="2600" b="1" dirty="0">
                <a:solidFill>
                  <a:srgbClr val="202124"/>
                </a:solidFill>
                <a:latin typeface="Google Sans"/>
              </a:rPr>
              <a:t>Capability Matrix: Copilot vs. Gemini for Office 365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="800000" y="1600000"/>
          <a:ext cx="105920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000"/>
                <a:gridCol w="2648000"/>
                <a:gridCol w="2648000"/>
                <a:gridCol w="2648000"/>
              </a:tblGrid>
              <a:tr h="500000">
                <a:tc>
                  <a:txBody>
                    <a:bodyPr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Capability / App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Microsoft 365 Copilot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Gemini for Office 365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450000"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Enterprise Grounding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MS Graph Grounding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Vertex AI Search Datastores (10-K, GCS)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0000"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Zero-Hallucination Citations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Verifiable Datastore Footnotes &amp;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Multimodal Visual Generation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No (Static Templates)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Gemini 2.5 Flash Image (Nano Banana)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Gemini Advantage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0000"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Word: Inline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Inline Prompt Ribbon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Inline @gemini &lt;prompt&gt;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Word: Document Transformation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Selection rewrite, summarize, OOXML tables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0000"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PPT: Executive Deck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Yes (From Word/Prompt)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Multi-slide executive decks with layouts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PPT: macOS WKWebView Sync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Built-in C++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macOS Dual-Pipeline (setSelectedDataAsync)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0000"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Excel: Data Anomaly &amp;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Worksheet range analysis &amp; risk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sz="1300">
                          <a:solidFill>
                            <a:srgbClr val="202124"/>
                          </a:solidFill>
                        </a:rPr>
                        <a:t>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800000" y="600000"/>
            <a:ext cx="10592000" cy="50000"/>
          </a:xfrm>
          <a:prstGeom prst="rect">
            <a:avLst/>
          </a:prstGeom>
          <a:solidFill>
            <a:srgbClr val="1A73E8"/>
          </a:solidFill>
        </p:spPr>
      </p:sp>
      <p:sp>
        <p:nvSpPr>
          <p:cNvPr id="3" name="SlideHeader"/>
          <p:cNvSpPr/>
          <p:nvPr/>
        </p:nvSpPr>
        <p:spPr>
          <a:xfrm>
            <a:off x="800000" y="800000"/>
            <a:ext cx="10592000" cy="700000"/>
          </a:xfrm>
          <a:prstGeom prst="rect">
            <a:avLst/>
          </a:prstGeom>
          <a:noFill/>
        </p:spPr>
        <p:txBody>
          <a:bodyPr lIns="0" tIns="0" rIns="0" bIns="0"/>
          <a:p>
            <a:r>
              <a:rPr sz="2600" b="1" dirty="0">
                <a:solidFill>
                  <a:srgbClr val="202124"/>
                </a:solidFill>
                <a:latin typeface="Google Sans"/>
              </a:rPr>
              <a:t>Core Enabled Capabilities in Gemini for Office 365</a:t>
            </a:r>
          </a:p>
        </p:txBody>
      </p:sp>
      <p:sp>
        <p:nvSpPr>
          <p:cNvPr id="4" name="BodyContent"/>
          <p:cNvSpPr/>
          <p:nvPr/>
        </p:nvSpPr>
        <p:spPr>
          <a:xfrm>
            <a:off x="800000" y="1600000"/>
            <a:ext cx="10592000" cy="4600000"/>
          </a:xfrm>
          <a:prstGeom prst="rect">
            <a:avLst/>
          </a:prstGeom>
          <a:noFill/>
        </p:spPr>
        <p:txBody>
          <a:bodyPr lIns="0" tIns="0" rIns="0" bIns="0"/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Enterprise Grounding via Vertex AI Search: Real-time RAG over corporate filings, financial disclosures, and policies in GCS with citation tracking.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Dynamic 2D Vector Visuals (gemini-2.5-flash-image): Direct injection of high-resolution corporate financial charts, bar graphs, and infographics.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Multi-Host Polymorphic Adapters: Seamless execution across Microsoft Word, PowerPoint, and Excel on Desktop (Mac/Windows) and Office Online.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macOS WKWebView Dual-Pipeline: Solved macOS XPC base64 serialization limits by combining PowerPoint.run slide selection sync with native setSelectedDataAsync.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In-Document Triggers: Type @gemini directly inline in Word, or highlight text/cells to summarize, rewrite, or calculate.</a:t>
            </a:r>
          </a:p>
          <a:p>
            <a:pPr>
              <a:spcBfr>
                <a:spcPts val="600"/>
              </a:spcBf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800000" y="600000"/>
            <a:ext cx="10592000" cy="50000"/>
          </a:xfrm>
          <a:prstGeom prst="rect">
            <a:avLst/>
          </a:prstGeom>
          <a:solidFill>
            <a:srgbClr val="1A73E8"/>
          </a:solidFill>
        </p:spPr>
      </p:sp>
      <p:sp>
        <p:nvSpPr>
          <p:cNvPr id="3" name="SlideHeader"/>
          <p:cNvSpPr/>
          <p:nvPr/>
        </p:nvSpPr>
        <p:spPr>
          <a:xfrm>
            <a:off x="800000" y="800000"/>
            <a:ext cx="10592000" cy="700000"/>
          </a:xfrm>
          <a:prstGeom prst="rect">
            <a:avLst/>
          </a:prstGeom>
          <a:noFill/>
        </p:spPr>
        <p:txBody>
          <a:bodyPr lIns="0" tIns="0" rIns="0" bIns="0"/>
          <a:p>
            <a:r>
              <a:rPr sz="2600" b="1" dirty="0">
                <a:solidFill>
                  <a:srgbClr val="202124"/>
                </a:solidFill>
                <a:latin typeface="Google Sans"/>
              </a:rPr>
              <a:t>Gap Analysis &amp; Future Roadmap</a:t>
            </a:r>
          </a:p>
        </p:txBody>
      </p:sp>
      <p:sp>
        <p:nvSpPr>
          <p:cNvPr id="4" name="BodyContent"/>
          <p:cNvSpPr/>
          <p:nvPr/>
        </p:nvSpPr>
        <p:spPr>
          <a:xfrm>
            <a:off x="800000" y="1600000"/>
            <a:ext cx="10592000" cy="4600000"/>
          </a:xfrm>
          <a:prstGeom prst="rect">
            <a:avLst/>
          </a:prstGeom>
          <a:noFill/>
        </p:spPr>
        <p:txBody>
          <a:bodyPr lIns="0" tIns="0" rIns="0" bIns="0"/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Microsoft Graph Personal Context: Copilot reads personal mailbox, calendar invites, and Teams chat logs. Gemini plugin currently focuses on enterprise Datastores and active documents.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Direct Grid-Cell Formula Mutation: Copilot writes live =SUMIFS() and executes Python in Excel. Gemini plugin delivers card summaries and risk analysis in the taskpane.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Native Vector PowerPoint Shape Trees: Copilot builds slides with editable PowerPoint vector shapes. Gemini plugin injects high-res flat 2D visuals and formatted typography.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Outlook &amp; Teams Host Adapters: Outlook email drafting and Teams live meeting recap can be added as next-phase host adapters.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Speech / Voice Input: Native voice dictation input.</a:t>
            </a:r>
          </a:p>
          <a:p>
            <a:pPr>
              <a:spcBfr>
                <a:spcPts val="600"/>
              </a:spcBf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800000" y="600000"/>
            <a:ext cx="10592000" cy="50000"/>
          </a:xfrm>
          <a:prstGeom prst="rect">
            <a:avLst/>
          </a:prstGeom>
          <a:solidFill>
            <a:srgbClr val="1A73E8"/>
          </a:solidFill>
        </p:spPr>
      </p:sp>
      <p:sp>
        <p:nvSpPr>
          <p:cNvPr id="3" name="SlideHeader"/>
          <p:cNvSpPr/>
          <p:nvPr/>
        </p:nvSpPr>
        <p:spPr>
          <a:xfrm>
            <a:off x="800000" y="800000"/>
            <a:ext cx="10592000" cy="700000"/>
          </a:xfrm>
          <a:prstGeom prst="rect">
            <a:avLst/>
          </a:prstGeom>
          <a:noFill/>
        </p:spPr>
        <p:txBody>
          <a:bodyPr lIns="0" tIns="0" rIns="0" bIns="0"/>
          <a:p>
            <a:r>
              <a:rPr sz="2600" b="1" dirty="0">
                <a:solidFill>
                  <a:srgbClr val="202124"/>
                </a:solidFill>
                <a:latin typeface="Google Sans"/>
              </a:rPr>
              <a:t>End-to-End Enterprise Architecture</a:t>
            </a:r>
          </a:p>
        </p:txBody>
      </p:sp>
      <p:sp>
        <p:nvSpPr>
          <p:cNvPr id="4" name="BodyContent"/>
          <p:cNvSpPr/>
          <p:nvPr/>
        </p:nvSpPr>
        <p:spPr>
          <a:xfrm>
            <a:off x="800000" y="1600000"/>
            <a:ext cx="10592000" cy="4600000"/>
          </a:xfrm>
          <a:prstGeom prst="rect">
            <a:avLst/>
          </a:prstGeom>
          <a:noFill/>
        </p:spPr>
        <p:txBody>
          <a:bodyPr lIns="0" tIns="0" rIns="0" bIns="0"/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Client Tier: Office.js taskpane webview with polymorphic HostAdapterFactory (WordAdapter, PPTAdapter, ExcelAdapter).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GCP Infrastructure: Cloud Run frontend container (gemini-frontend) + Cloud Functions Gen 2 microservice (askGemini) in us-central1.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Enterprise AI Engine: Vertex AI Gemini 2.5 Flash + Vertex AI Search Datastore Grounding + Gemini 2.5 Flash Image.</a:t>
            </a:r>
          </a:p>
          <a:p>
            <a:pPr>
              <a:spcBfr>
                <a:spcPts val="600"/>
              </a:spcBfr>
            </a:pPr>
          </a:p>
          <a:p>
            <a:pPr marL="288000" indent="-288000">
              <a:buClr>
                <a:srgbClr val="1A73E8"/>
              </a:buClr>
              <a:buSzPct val="100000"/>
              <a:buFont typeface="Arial"/>
              <a:buChar char="•"/>
            </a:pPr>
            <a:r>
              <a:rPr sz="1600" dirty="0">
                <a:solidFill>
                  <a:srgbClr val="3C4043"/>
                </a:solidFill>
                <a:latin typeface="Google Sans"/>
              </a:rPr>
              <a:t>Enterprise Security: Zero client-side credentials; Workload Identity &amp; IAM-governed tenant boundaries.</a:t>
            </a:r>
          </a:p>
          <a:p>
            <a:pPr>
              <a:spcBfr>
                <a:spcPts val="600"/>
              </a:spcBfr>
            </a:pPr>
          </a:p>
        </p:txBody>
      </p:sp>
    </p:spTree>
  </p:cSld>
  <p:clrMapOvr>
    <a:masterClrMapping/>
  </p:clrMapOvr>
</p:sld>
</file>